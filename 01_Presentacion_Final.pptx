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C8A1DE-1293-47ED-AAF1-B4E839B0F700}">
  <a:tblStyle styleId="{36C8A1DE-1293-47ED-AAF1-B4E839B0F70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382b1412c_1_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f382b1412c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382b1412c_1_1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f382b1412c_1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382b1412c_1_1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f382b1412c_1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382b1412c_1_1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f382b1412c_1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382b1412c_1_1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f382b1412c_1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382b1412c_1_1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f382b1412c_1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382b1412c_1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f382b1412c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382b1412c_1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f382b1412c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slow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29" y="495097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" y="2707792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EDIFICIO EL MIRADOR</a:t>
            </a: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INGENIERÍA DE SOFTWARE | RQY1102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scuelaIT Duoc UC - Escuela de Informática y Telecomunicaciones Duoc UC - Duoc  UC | LinkedIn" id="86" name="Google Shape;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7963" y="4463247"/>
            <a:ext cx="4536009" cy="11447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" name="Google Shape;92;p14"/>
          <p:cNvGrpSpPr/>
          <p:nvPr/>
        </p:nvGrpSpPr>
        <p:grpSpPr>
          <a:xfrm>
            <a:off x="4121026" y="1582626"/>
            <a:ext cx="7633549" cy="4782949"/>
            <a:chOff x="0" y="-128193"/>
            <a:chExt cx="7633549" cy="4782949"/>
          </a:xfrm>
        </p:grpSpPr>
        <p:sp>
          <p:nvSpPr>
            <p:cNvPr id="93" name="Google Shape;93;p14"/>
            <p:cNvSpPr/>
            <p:nvPr/>
          </p:nvSpPr>
          <p:spPr>
            <a:xfrm>
              <a:off x="0" y="0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2D9"/>
                </a:gs>
                <a:gs pos="50000">
                  <a:srgbClr val="5197DA"/>
                </a:gs>
                <a:gs pos="100000">
                  <a:srgbClr val="4185C7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4"/>
            <p:cNvSpPr txBox="1"/>
            <p:nvPr/>
          </p:nvSpPr>
          <p:spPr>
            <a:xfrm>
              <a:off x="1662649" y="-128193"/>
              <a:ext cx="5970900" cy="14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Vicente Provoste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Cargo: </a:t>
              </a: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Encargado de Prototipado 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</a:t>
              </a:r>
              <a:b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Diseñó el prototipo en Figma. 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4"/>
            <p:cNvSpPr/>
            <p:nvPr/>
          </p:nvSpPr>
          <p:spPr>
            <a:xfrm>
              <a:off x="135954" y="135954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1D2EA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4"/>
            <p:cNvSpPr/>
            <p:nvPr/>
          </p:nvSpPr>
          <p:spPr>
            <a:xfrm>
              <a:off x="0" y="1495502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2D9"/>
                </a:gs>
                <a:gs pos="50000">
                  <a:srgbClr val="5197DA"/>
                </a:gs>
                <a:gs pos="100000">
                  <a:srgbClr val="4185C7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4"/>
            <p:cNvSpPr txBox="1"/>
            <p:nvPr/>
          </p:nvSpPr>
          <p:spPr>
            <a:xfrm>
              <a:off x="1662649" y="1367357"/>
              <a:ext cx="5970900" cy="148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Sebastián Miranda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Cargo: Encargado de Calidad 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Levantó requisitos y evaluó la usabilidad. </a:t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4"/>
            <p:cNvSpPr/>
            <p:nvPr/>
          </p:nvSpPr>
          <p:spPr>
            <a:xfrm>
              <a:off x="135954" y="1631457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1D2EA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4"/>
            <p:cNvSpPr/>
            <p:nvPr/>
          </p:nvSpPr>
          <p:spPr>
            <a:xfrm>
              <a:off x="0" y="2991005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2D9"/>
                </a:gs>
                <a:gs pos="50000">
                  <a:srgbClr val="5197DA"/>
                </a:gs>
                <a:gs pos="100000">
                  <a:srgbClr val="4185C7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4"/>
            <p:cNvSpPr txBox="1"/>
            <p:nvPr/>
          </p:nvSpPr>
          <p:spPr>
            <a:xfrm>
              <a:off x="1662649" y="2855056"/>
              <a:ext cx="5970900" cy="179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Bastian Chamblas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Cargo: </a:t>
              </a: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Arquitecto de Software </a:t>
              </a: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Definió la arquitectura y coordinó las entregas. </a:t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14"/>
            <p:cNvSpPr/>
            <p:nvPr/>
          </p:nvSpPr>
          <p:spPr>
            <a:xfrm>
              <a:off x="135954" y="3126960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1D2EA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" name="Google Shape;102;p1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EDIFICIO EL MIRADOR</a:t>
            </a: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INTEGRANTES, ROLES Y TIPO DE ORGANIZACIÓN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" name="Google Shape;104;p1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“EDIFICIO EL MIRADOR”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Y PROPUESTA DE SOLUCIÓN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" name="Google Shape;112;p1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13" name="Google Shape;113;p15"/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edificio el mirador cuenta con 160 departamentos con procesos manuales, poca transparencia y morosidad crítica, sin un sistema que automatice el cobro ni la comunicación con los residentes.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sistema software que automatiza el cobro de cuotas, calcula gastos comunes, emite notificaciones y genera informes en tiempo real.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136188" y="368928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“EDIFICIO EL MIRADOR”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0" y="1384304"/>
            <a:ext cx="121920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CICLO DE VIDA DEL SOFTWARE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" name="Google Shape;123;p16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24" name="Google Shape;124;p16"/>
          <p:cNvSpPr txBox="1"/>
          <p:nvPr/>
        </p:nvSpPr>
        <p:spPr>
          <a:xfrm>
            <a:off x="1" y="4082446"/>
            <a:ext cx="121920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Fases aplicadas al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614515" y="2040571"/>
            <a:ext cx="10962900" cy="1575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levantamos todos los requerimientos del edificio con la administración. Diseño: definimos la arquitectura con el modelo 4+1. Desarrollo: implementamos primero el módulo financiero, por ser el más urgente. evaluamos el prototipo con las heurísticas de Nielsen y diseñamos 69 casos de pruebas.  documentamos todo con control de versiones semántico.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614514" y="4732407"/>
            <a:ext cx="10962900" cy="1575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tradicional en cascada. La elegimos porque los requerimientos del edificio ya estaban bien definidos desde el inicio, sin necesidad de iterar sobre ellos.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1" name="Google Shape;13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/>
        </p:nvSpPr>
        <p:spPr>
          <a:xfrm>
            <a:off x="136188" y="368928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“EDIFICIO EL MIRADOR”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0" y="1432655"/>
            <a:ext cx="121920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OBJETIVOS, ALCANCE Y LIMITACIONES DEL PROYECTO</a:t>
            </a:r>
            <a:endParaRPr/>
          </a:p>
        </p:txBody>
      </p:sp>
      <p:cxnSp>
        <p:nvCxnSpPr>
          <p:cNvPr id="134" name="Google Shape;134;p17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35" name="Google Shape;135;p17"/>
          <p:cNvSpPr txBox="1"/>
          <p:nvPr/>
        </p:nvSpPr>
        <p:spPr>
          <a:xfrm>
            <a:off x="759150" y="2496075"/>
            <a:ext cx="109461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Objetivo general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Automatizar la gestión financiera y operativa del edificio para reducir la morosidad y mejorar la comunicación entre administración y residentes.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Alcance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Cubrimos gestión de residentes, pagos, morosidad, y solicitudes de mantención.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Limitaciones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El sistema no procesa dinero directamente, eso lo hace el banco. Tampoco reemplaza la seguridad física de la </a:t>
            </a:r>
            <a:r>
              <a:rPr lang="es-CL"/>
              <a:t>consejería</a:t>
            </a:r>
            <a:r>
              <a:rPr lang="es-CL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0" name="Google Shape;14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 txBox="1"/>
          <p:nvPr/>
        </p:nvSpPr>
        <p:spPr>
          <a:xfrm>
            <a:off x="136188" y="368928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“EDIFICIO EL MIRADOR”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0" y="1432655"/>
            <a:ext cx="121920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ESTRATEGIAS DE GESTIÓN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" name="Google Shape;143;p18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44" name="Google Shape;144;p18"/>
          <p:cNvSpPr txBox="1"/>
          <p:nvPr/>
        </p:nvSpPr>
        <p:spPr>
          <a:xfrm>
            <a:off x="1023900" y="3190875"/>
            <a:ext cx="101442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/>
              <a:t>Trabajamos con metodología tradicional, </a:t>
            </a:r>
            <a:r>
              <a:rPr lang="es-CL" sz="1600"/>
              <a:t>coordinandonos</a:t>
            </a:r>
            <a:r>
              <a:rPr lang="es-CL" sz="1600"/>
              <a:t> con reuniones y control de versiones.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/>
              <a:t>El alcance cubrió residentes, pagos, solicitudes e informes;.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9" name="Google Shape;14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9"/>
          <p:cNvSpPr txBox="1"/>
          <p:nvPr/>
        </p:nvSpPr>
        <p:spPr>
          <a:xfrm>
            <a:off x="136188" y="368928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“EDIFICIO EL MIRADOR”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9"/>
          <p:cNvSpPr txBox="1"/>
          <p:nvPr/>
        </p:nvSpPr>
        <p:spPr>
          <a:xfrm>
            <a:off x="1" y="1155656"/>
            <a:ext cx="12192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PLANIFICACIÓN DEL PROYECTO (EDT + CARTA GANTT)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" name="Google Shape;152;p1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53" name="Google Shape;153;p19"/>
          <p:cNvSpPr txBox="1"/>
          <p:nvPr/>
        </p:nvSpPr>
        <p:spPr>
          <a:xfrm>
            <a:off x="1412875" y="3175000"/>
            <a:ext cx="9159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/>
              <a:t>Planificamos el proyecto en 18 semanas y 7 fases, La Fase 4 (desarrollo) fue la más larga, y la Fase 5 (pruebas) se trabajó en paralelo. 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0" title="gant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725" y="259600"/>
            <a:ext cx="10251825" cy="6338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3" name="Google Shape;16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1"/>
          <p:cNvSpPr txBox="1"/>
          <p:nvPr/>
        </p:nvSpPr>
        <p:spPr>
          <a:xfrm>
            <a:off x="136188" y="368928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“EDIFICIO EL MIRADOR”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1"/>
          <p:cNvSpPr txBox="1"/>
          <p:nvPr/>
        </p:nvSpPr>
        <p:spPr>
          <a:xfrm>
            <a:off x="0" y="1432655"/>
            <a:ext cx="12192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 SOFTWARE - MODELO 4+1 (UML)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6" name="Google Shape;166;p21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67" name="Google Shape;167;p21"/>
          <p:cNvSpPr txBox="1"/>
          <p:nvPr/>
        </p:nvSpPr>
        <p:spPr>
          <a:xfrm>
            <a:off x="2230500" y="3587750"/>
            <a:ext cx="7731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/>
              <a:t>Usamos UML porque nos permite representar el sistema desde distintas perspectivas antes de programar, facilitando la comunicación entre nosotros y la validación.</a:t>
            </a:r>
            <a:endParaRPr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4825" y="641775"/>
            <a:ext cx="8642351" cy="579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2"/>
          <p:cNvSpPr txBox="1"/>
          <p:nvPr/>
        </p:nvSpPr>
        <p:spPr>
          <a:xfrm>
            <a:off x="-133350" y="15240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77724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</a:rPr>
              <a:t>Diagrama general de casos de uso </a:t>
            </a:r>
            <a:endParaRPr/>
          </a:p>
        </p:txBody>
      </p:sp>
      <p:sp>
        <p:nvSpPr>
          <p:cNvPr id="174" name="Google Shape;174;p22"/>
          <p:cNvSpPr txBox="1"/>
          <p:nvPr/>
        </p:nvSpPr>
        <p:spPr>
          <a:xfrm>
            <a:off x="2320650" y="6096000"/>
            <a:ext cx="7550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muestra qué puede hacer cada actor —administrador, residente, personal— dentro del sistema.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9200" y="465600"/>
            <a:ext cx="9753600" cy="556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3"/>
          <p:cNvSpPr txBox="1"/>
          <p:nvPr/>
        </p:nvSpPr>
        <p:spPr>
          <a:xfrm>
            <a:off x="152400" y="1524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</a:rPr>
              <a:t>Diagrama de clases</a:t>
            </a:r>
            <a:endParaRPr/>
          </a:p>
        </p:txBody>
      </p:sp>
      <p:sp>
        <p:nvSpPr>
          <p:cNvPr id="181" name="Google Shape;181;p23"/>
          <p:cNvSpPr txBox="1"/>
          <p:nvPr/>
        </p:nvSpPr>
        <p:spPr>
          <a:xfrm>
            <a:off x="1549950" y="5957450"/>
            <a:ext cx="9092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define las entidades del negocio, como Residente, Departamento, GastoComun y Pago, y cómo se relacionan entre sí.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7463" y="852750"/>
            <a:ext cx="10237075" cy="441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4"/>
          <p:cNvSpPr txBox="1"/>
          <p:nvPr/>
        </p:nvSpPr>
        <p:spPr>
          <a:xfrm>
            <a:off x="152400" y="1524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</a:rPr>
              <a:t>Diagrama de componente</a:t>
            </a:r>
            <a:endParaRPr/>
          </a:p>
        </p:txBody>
      </p:sp>
      <p:sp>
        <p:nvSpPr>
          <p:cNvPr id="188" name="Google Shape;188;p24"/>
          <p:cNvSpPr txBox="1"/>
          <p:nvPr/>
        </p:nvSpPr>
        <p:spPr>
          <a:xfrm>
            <a:off x="977475" y="5836225"/>
            <a:ext cx="876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representa cómo se dividen los seis módulos del sistema y cómo se comunican entre ellos.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4213" y="460575"/>
            <a:ext cx="5743575" cy="521017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5"/>
          <p:cNvSpPr txBox="1"/>
          <p:nvPr/>
        </p:nvSpPr>
        <p:spPr>
          <a:xfrm>
            <a:off x="152400" y="1524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</a:rPr>
              <a:t>Diagrama de actividad</a:t>
            </a:r>
            <a:endParaRPr/>
          </a:p>
        </p:txBody>
      </p:sp>
      <p:sp>
        <p:nvSpPr>
          <p:cNvPr id="195" name="Google Shape;195;p25"/>
          <p:cNvSpPr txBox="1"/>
          <p:nvPr/>
        </p:nvSpPr>
        <p:spPr>
          <a:xfrm>
            <a:off x="1853100" y="6061350"/>
            <a:ext cx="848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describe el flujo del proceso de cobro, desde que se genera la cuota hasta que se registra el pago.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0750" y="712700"/>
            <a:ext cx="9190499" cy="46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6"/>
          <p:cNvSpPr txBox="1"/>
          <p:nvPr/>
        </p:nvSpPr>
        <p:spPr>
          <a:xfrm>
            <a:off x="152400" y="1524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</a:rPr>
              <a:t>Diagrama de despliegue</a:t>
            </a:r>
            <a:endParaRPr/>
          </a:p>
        </p:txBody>
      </p:sp>
      <p:sp>
        <p:nvSpPr>
          <p:cNvPr id="202" name="Google Shape;202;p26"/>
          <p:cNvSpPr txBox="1"/>
          <p:nvPr/>
        </p:nvSpPr>
        <p:spPr>
          <a:xfrm>
            <a:off x="1671150" y="5870850"/>
            <a:ext cx="884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muestra dónde se ejecuta cada módulo en la infraestructura, en este caso en la nube.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7" name="Google Shape;20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7"/>
          <p:cNvSpPr txBox="1"/>
          <p:nvPr/>
        </p:nvSpPr>
        <p:spPr>
          <a:xfrm>
            <a:off x="136188" y="368928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“EDIFICIO EL MIRADOR”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7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REQUISITOS FUNCIONALES Y NO FUNCIONALES</a:t>
            </a:r>
            <a:endParaRPr/>
          </a:p>
        </p:txBody>
      </p:sp>
      <p:cxnSp>
        <p:nvCxnSpPr>
          <p:cNvPr id="210" name="Google Shape;210;p2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11" name="Google Shape;211;p27"/>
          <p:cNvSpPr txBox="1"/>
          <p:nvPr/>
        </p:nvSpPr>
        <p:spPr>
          <a:xfrm>
            <a:off x="1276950" y="2647625"/>
            <a:ext cx="96381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/>
              <a:t>Entre los requisitos funcionales más importantes: gestión de usuarios y residentes, cálculo automático de cuotas, pagos, morosidad, notificaciones.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/>
              <a:t>En los no funcionales: el sistema tiene que ser fácil de usar, responder en menos de 3 segundos, y funcionar tanto en computador como en celular.</a:t>
            </a:r>
            <a:endParaRPr sz="1700"/>
          </a:p>
        </p:txBody>
      </p:sp>
    </p:spTree>
  </p:cSld>
  <p:clrMapOvr>
    <a:masterClrMapping/>
  </p:clrMapOvr>
  <p:transition spd="slow"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6" name="Google Shape;21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8"/>
          <p:cNvSpPr txBox="1"/>
          <p:nvPr/>
        </p:nvSpPr>
        <p:spPr>
          <a:xfrm>
            <a:off x="136188" y="368928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“EDIFICIO EL MIRADOR”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8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ESTÁNDARES DE CALIDAD - ISO25000 Y OTROS</a:t>
            </a:r>
            <a:endParaRPr/>
          </a:p>
        </p:txBody>
      </p:sp>
      <p:cxnSp>
        <p:nvCxnSpPr>
          <p:cNvPr id="219" name="Google Shape;219;p2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20" name="Google Shape;220;p28"/>
          <p:cNvSpPr txBox="1"/>
          <p:nvPr/>
        </p:nvSpPr>
        <p:spPr>
          <a:xfrm>
            <a:off x="1226950" y="2753600"/>
            <a:ext cx="94281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/>
              <a:t>Nos enfocamos en siete atributos de calidad: seguridad, integridad de los datos, usabilidad, trazabilidad, rendimiento, accesibilidad y mantenibilidad.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/>
              <a:t>Por ejemplo, cada operación queda registrada con fecha y hora, y el sistema responde en menos de 3 segundos.</a:t>
            </a:r>
            <a:endParaRPr sz="1600"/>
          </a:p>
        </p:txBody>
      </p:sp>
    </p:spTree>
  </p:cSld>
  <p:clrMapOvr>
    <a:masterClrMapping/>
  </p:clrMapOvr>
  <p:transition spd="slow"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25" name="Google Shape;22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9"/>
          <p:cNvSpPr txBox="1"/>
          <p:nvPr/>
        </p:nvSpPr>
        <p:spPr>
          <a:xfrm>
            <a:off x="1" y="1459095"/>
            <a:ext cx="12191999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HEURISTICA DE NIELSEN Y CASOS DE PRUEBA (ISO25000)</a:t>
            </a:r>
            <a:endParaRPr/>
          </a:p>
        </p:txBody>
      </p:sp>
      <p:sp>
        <p:nvSpPr>
          <p:cNvPr id="227" name="Google Shape;227;p29"/>
          <p:cNvSpPr txBox="1"/>
          <p:nvPr/>
        </p:nvSpPr>
        <p:spPr>
          <a:xfrm>
            <a:off x="2190750" y="3714750"/>
            <a:ext cx="78105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/>
              <a:t>L</a:t>
            </a:r>
            <a:r>
              <a:rPr lang="es-CL" sz="1900"/>
              <a:t>o hicimos siguiendo la norma ISO 25000, evaluando usabilidad y calidad del prototipo.</a:t>
            </a:r>
            <a:endParaRPr sz="1900"/>
          </a:p>
        </p:txBody>
      </p:sp>
    </p:spTree>
  </p:cSld>
  <p:clrMapOvr>
    <a:masterClrMapping/>
  </p:clrMapOvr>
  <p:transition spd="slow"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32" name="Google Shape;23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3" name="Google Shape;233;p30"/>
          <p:cNvGraphicFramePr/>
          <p:nvPr/>
        </p:nvGraphicFramePr>
        <p:xfrm>
          <a:off x="1145175" y="9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{36C8A1DE-1293-47ED-AAF1-B4E839B0F700}</a:tableStyleId>
              </a:tblPr>
              <a:tblGrid>
                <a:gridCol w="2613025"/>
                <a:gridCol w="1417825"/>
                <a:gridCol w="6128275"/>
              </a:tblGrid>
              <a:tr h="441375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CL" sz="1200" u="none" cap="none" strike="noStrike">
                          <a:solidFill>
                            <a:srgbClr val="FFFFFF"/>
                          </a:solidFill>
                        </a:rPr>
                        <a:t>CASOS DE PRUEBA POR MÓDULO</a:t>
                      </a:r>
                      <a:endParaRPr b="1" sz="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 hMerge="1"/>
                <a:tc hMerge="1"/>
              </a:tr>
              <a:tr h="38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L" sz="900" u="none" cap="none" strike="noStrike">
                          <a:solidFill>
                            <a:srgbClr val="FFFFFF"/>
                          </a:solidFill>
                        </a:rPr>
                        <a:t>Módulo</a:t>
                      </a:r>
                      <a:endParaRPr b="1" sz="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L" sz="900" u="none" cap="none" strike="noStrike">
                          <a:solidFill>
                            <a:srgbClr val="FFFFFF"/>
                          </a:solidFill>
                        </a:rPr>
                        <a:t>N° de Casos</a:t>
                      </a:r>
                      <a:endParaRPr b="1" sz="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L" sz="900" u="none" cap="none" strike="noStrike">
                          <a:solidFill>
                            <a:srgbClr val="FFFFFF"/>
                          </a:solidFill>
                        </a:rPr>
                        <a:t>Qué se prueba</a:t>
                      </a:r>
                      <a:endParaRPr b="1" sz="9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</a:tr>
              <a:tr h="537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/>
                        <a:t>Inicio de sesión</a:t>
                      </a:r>
                      <a:endParaRPr b="1" sz="800" u="none" cap="none" strike="noStrike"/>
                    </a:p>
                  </a:txBody>
                  <a:tcPr marT="91425" marB="91425" marR="28575" marL="28575" anchor="ctr">
                    <a:lnL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/>
                        <a:t>8</a:t>
                      </a:r>
                      <a:endParaRPr sz="800" u="none" cap="none" strike="noStrike"/>
                    </a:p>
                  </a:txBody>
                  <a:tcPr marT="91425" marB="91425" marR="28575" marL="28575" anchor="ctr">
                    <a:lnL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/>
                        <a:t>Validación de credenciales, formato de correo, campos vacíos, sensibilidad a mayúsculas, modo noche y tamaño de fuente</a:t>
                      </a:r>
                      <a:endParaRPr sz="800" u="none" cap="none" strike="noStrike"/>
                    </a:p>
                  </a:txBody>
                  <a:tcPr marT="91425" marB="91425" marR="28575" marL="28575" anchor="ctr">
                    <a:lnL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4F0"/>
                    </a:solidFill>
                  </a:tcPr>
                </a:tc>
              </a:tr>
              <a:tr h="36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/>
                        <a:t>Registro de usuario</a:t>
                      </a:r>
                      <a:endParaRPr b="1" sz="800" u="none" cap="none" strike="noStrike"/>
                    </a:p>
                  </a:txBody>
                  <a:tcPr marT="91425" marB="91425" marR="28575" marL="28575" anchor="ctr">
                    <a:lnL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/>
                        <a:t>6</a:t>
                      </a:r>
                      <a:endParaRPr sz="800" u="none" cap="none" strike="noStrike"/>
                    </a:p>
                  </a:txBody>
                  <a:tcPr marT="91425" marB="91425" marR="28575" marL="28575" anchor="ctr">
                    <a:lnL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/>
                        <a:t>Registro válido, correo duplicado/sin @, campos vacíos, mínimo de caracteres y coincidencia de contraseñas</a:t>
                      </a:r>
                      <a:endParaRPr sz="800" u="none" cap="none" strike="noStrike"/>
                    </a:p>
                  </a:txBody>
                  <a:tcPr marT="91425" marB="91425" marR="28575" marL="28575" anchor="ctr">
                    <a:lnL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7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/>
                        <a:t>Panel de Administración</a:t>
                      </a:r>
                      <a:endParaRPr b="1" sz="800" u="none" cap="none" strike="noStrike"/>
                    </a:p>
                  </a:txBody>
                  <a:tcPr marT="91425" marB="91425" marR="28575" marL="28575" anchor="ctr">
                    <a:lnL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/>
                        <a:t>7</a:t>
                      </a:r>
                      <a:endParaRPr sz="800" u="none" cap="none" strike="noStrike"/>
                    </a:p>
                  </a:txBody>
                  <a:tcPr marT="91425" marB="91425" marR="28575" marL="28575" anchor="ctr">
                    <a:lnL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/>
                        <a:t>Acceso a módulos disponibles/bloqueados, visualización de los 7 módulos, modo noche, fuente y cierre de sesión</a:t>
                      </a:r>
                      <a:endParaRPr sz="800" u="none" cap="none" strike="noStrike"/>
                    </a:p>
                  </a:txBody>
                  <a:tcPr marT="91425" marB="91425" marR="28575" marL="28575" anchor="ctr">
                    <a:lnL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4F0"/>
                    </a:solidFill>
                  </a:tcPr>
                </a:tc>
              </a:tr>
              <a:tr h="36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/>
                        <a:t>Gestión de Residente y Unidades</a:t>
                      </a:r>
                      <a:endParaRPr b="1" sz="800" u="none" cap="none" strike="noStrike"/>
                    </a:p>
                  </a:txBody>
                  <a:tcPr marT="91425" marB="91425" marR="28575" marL="28575" anchor="ctr">
                    <a:lnL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/>
                        <a:t>7</a:t>
                      </a:r>
                      <a:endParaRPr sz="800" u="none" cap="none" strike="noStrike"/>
                    </a:p>
                  </a:txBody>
                  <a:tcPr marT="91425" marB="91425" marR="28575" marL="28575" anchor="ctr">
                    <a:lnL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/>
                        <a:t>Carga de submódulos, navegación, módulos bloqueados, retroceso, modo noche y cierre de sesión</a:t>
                      </a:r>
                      <a:endParaRPr sz="800" u="none" cap="none" strike="noStrike"/>
                    </a:p>
                  </a:txBody>
                  <a:tcPr marT="91425" marB="91425" marR="28575" marL="28575" anchor="ctr">
                    <a:lnL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7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/>
                        <a:t>Gestión de Residente</a:t>
                      </a:r>
                      <a:endParaRPr b="1" sz="800" u="none" cap="none" strike="noStrike"/>
                    </a:p>
                  </a:txBody>
                  <a:tcPr marT="91425" marB="91425" marR="28575" marL="28575" anchor="ctr">
                    <a:lnL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/>
                        <a:t>18</a:t>
                      </a:r>
                      <a:endParaRPr sz="800" u="none" cap="none" strike="noStrike"/>
                    </a:p>
                  </a:txBody>
                  <a:tcPr marT="91425" marB="91425" marR="28575" marL="28575" anchor="ctr">
                    <a:lnL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/>
                        <a:t>Listado, búsquedas (nombre, RUT, unidad, contacto), filtros por estado, historial, edición, baja y diferenciación visual</a:t>
                      </a:r>
                      <a:endParaRPr sz="800" u="none" cap="none" strike="noStrike"/>
                    </a:p>
                  </a:txBody>
                  <a:tcPr marT="91425" marB="91425" marR="28575" marL="28575" anchor="ctr">
                    <a:lnL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4F0"/>
                    </a:solidFill>
                  </a:tcPr>
                </a:tc>
              </a:tr>
              <a:tr h="36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/>
                        <a:t>Registrar Residente</a:t>
                      </a:r>
                      <a:endParaRPr b="1" sz="800" u="none" cap="none" strike="noStrike"/>
                    </a:p>
                  </a:txBody>
                  <a:tcPr marT="91425" marB="91425" marR="28575" marL="28575" anchor="ctr">
                    <a:lnL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/>
                        <a:t>11</a:t>
                      </a:r>
                      <a:endParaRPr sz="800" u="none" cap="none" strike="noStrike"/>
                    </a:p>
                  </a:txBody>
                  <a:tcPr marT="91425" marB="91425" marR="28575" marL="28575" anchor="ctr">
                    <a:lnL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/>
                        <a:t>Formulario completo, validación de RUT/correo/teléfono, campos obligatorios y opcionales, cancelación</a:t>
                      </a:r>
                      <a:endParaRPr sz="800" u="none" cap="none" strike="noStrike"/>
                    </a:p>
                  </a:txBody>
                  <a:tcPr marT="91425" marB="91425" marR="28575" marL="28575" anchor="ctr">
                    <a:lnL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7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/>
                        <a:t>Editar Residente</a:t>
                      </a:r>
                      <a:endParaRPr b="1" sz="800" u="none" cap="none" strike="noStrike"/>
                    </a:p>
                  </a:txBody>
                  <a:tcPr marT="91425" marB="91425" marR="28575" marL="28575" anchor="ctr">
                    <a:lnL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/>
                        <a:t>12</a:t>
                      </a:r>
                      <a:endParaRPr sz="800" u="none" cap="none" strike="noStrike"/>
                    </a:p>
                  </a:txBody>
                  <a:tcPr marT="91425" marB="91425" marR="28575" marL="28575" anchor="ctr">
                    <a:lnL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/>
                        <a:t>Edición con datos precargados, RUT no editable, validaciones, contacto de emergencia, notas y cierre del modal</a:t>
                      </a:r>
                      <a:endParaRPr sz="800" u="none" cap="none" strike="noStrike"/>
                    </a:p>
                  </a:txBody>
                  <a:tcPr marT="91425" marB="91425" marR="28575" marL="28575" anchor="ctr">
                    <a:lnL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4F0"/>
                    </a:solidFill>
                  </a:tcPr>
                </a:tc>
              </a:tr>
              <a:tr h="441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solidFill>
                            <a:srgbClr val="FFFFFF"/>
                          </a:solidFill>
                        </a:rPr>
                        <a:t>TOTAL</a:t>
                      </a:r>
                      <a:endParaRPr b="1" sz="8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solidFill>
                            <a:srgbClr val="FFFFFF"/>
                          </a:solidFill>
                        </a:rPr>
                        <a:t>69</a:t>
                      </a:r>
                      <a:endParaRPr b="1" sz="8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28575" marL="28575" anchor="ctr">
                    <a:lnL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</a:tr>
            </a:tbl>
          </a:graphicData>
        </a:graphic>
      </p:graphicFrame>
      <p:sp>
        <p:nvSpPr>
          <p:cNvPr id="234" name="Google Shape;234;p30"/>
          <p:cNvSpPr txBox="1"/>
          <p:nvPr/>
        </p:nvSpPr>
        <p:spPr>
          <a:xfrm>
            <a:off x="2419050" y="5715000"/>
            <a:ext cx="790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porque es el módulo más complejo: tiene más formularios, filtros y pantallas que evaluar.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39" name="Google Shape;23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7475" y="2349987"/>
            <a:ext cx="4542087" cy="1935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72798" y="1794150"/>
            <a:ext cx="6561052" cy="28530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46" name="Google Shape;24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2"/>
          <p:cNvSpPr txBox="1"/>
          <p:nvPr/>
        </p:nvSpPr>
        <p:spPr>
          <a:xfrm>
            <a:off x="1" y="1360773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DE VERSIONES</a:t>
            </a:r>
            <a:endParaRPr/>
          </a:p>
        </p:txBody>
      </p:sp>
      <p:sp>
        <p:nvSpPr>
          <p:cNvPr id="248" name="Google Shape;248;p32"/>
          <p:cNvSpPr txBox="1"/>
          <p:nvPr/>
        </p:nvSpPr>
        <p:spPr>
          <a:xfrm>
            <a:off x="1324800" y="2632350"/>
            <a:ext cx="95424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/>
              <a:t>Control de versiones del prototipo (Figma):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/>
              <a:t>V1 registro y listado inicial →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/>
              <a:t>V2 formato de RUT →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/>
              <a:t>V3 selector propietario/arrendatario →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/>
              <a:t>V4 ajustes finales de campos y fuente.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/>
              <a:t>Documentación (Google Drive): DAS de v0.1 a v1.4.</a:t>
            </a:r>
            <a:endParaRPr sz="2000"/>
          </a:p>
        </p:txBody>
      </p:sp>
      <p:sp>
        <p:nvSpPr>
          <p:cNvPr id="249" name="Google Shape;249;p32"/>
          <p:cNvSpPr txBox="1"/>
          <p:nvPr/>
        </p:nvSpPr>
        <p:spPr>
          <a:xfrm>
            <a:off x="1489375" y="5524500"/>
            <a:ext cx="8538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En Figma pasamos por 4 versiones: desde el registro inicial,  el formato del RUT, hasta agregar el selector propietario/arrendatario y los ajustes finales. El documento fue de la v0.1 a la v1.4 en Drive.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54" name="Google Shape;25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3"/>
          <p:cNvSpPr txBox="1"/>
          <p:nvPr/>
        </p:nvSpPr>
        <p:spPr>
          <a:xfrm>
            <a:off x="1" y="1800142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PROTOTIPO FIGMA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33"/>
          <p:cNvSpPr txBox="1"/>
          <p:nvPr/>
        </p:nvSpPr>
        <p:spPr>
          <a:xfrm>
            <a:off x="2286925" y="3060125"/>
            <a:ext cx="7842300" cy="18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CL" sz="1700">
                <a:solidFill>
                  <a:schemeClr val="dk1"/>
                </a:solidFill>
              </a:rPr>
              <a:t>¿Por qué Figma?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CL" sz="1700">
                <a:solidFill>
                  <a:schemeClr val="dk1"/>
                </a:solidFill>
              </a:rPr>
              <a:t>Nos permite hacer un p</a:t>
            </a:r>
            <a:r>
              <a:rPr lang="es-CL" sz="1700">
                <a:solidFill>
                  <a:schemeClr val="dk1"/>
                </a:solidFill>
              </a:rPr>
              <a:t>rototipo navegable de alta fidelidad — simula flujos reales sin código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CL" sz="1700">
                <a:solidFill>
                  <a:schemeClr val="dk1"/>
                </a:solidFill>
              </a:rPr>
              <a:t>Colaboración en la nube — 3 integrantes, sin conflictos de versión</a:t>
            </a:r>
            <a:r>
              <a:rPr lang="es-CL" sz="1700">
                <a:solidFill>
                  <a:schemeClr val="lt1"/>
                </a:solidFill>
              </a:rPr>
              <a:t> trazabilidad del diseño</a:t>
            </a:r>
            <a:endParaRPr sz="1800"/>
          </a:p>
        </p:txBody>
      </p:sp>
    </p:spTree>
  </p:cSld>
  <p:clrMapOvr>
    <a:masterClrMapping/>
  </p:clrMapOvr>
  <p:transition spd="slow">
    <p:fade thruBlk="1"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61" name="Google Shape;26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4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